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6583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1" a:lang="zh-CN">
                <a:solidFill>
                  <a:srgbClr val="EF673C"/>
                </a:solidFill>
                <a:latin typeface="Microsoft YaHei"/>
                <a:ea typeface="Microsoft YaHei"/>
              </a:rPr>
              <a:t>VIDEO RETOUCHING AGENT · METHOD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05840"/>
            <a:ext cx="1078992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500" b="1" a:lang="zh-CN">
                <a:solidFill>
                  <a:srgbClr val="17212B"/>
                </a:solidFill>
                <a:latin typeface="Microsoft YaHei"/>
                <a:ea typeface="Microsoft YaHei"/>
              </a:rPr>
              <a:t>从单图工具学习到
主动多 Anchor 视频修图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331720"/>
            <a:ext cx="10789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700" b="0" a:lang="zh-CN">
                <a:solidFill>
                  <a:srgbClr val="64707B"/>
                </a:solidFill>
                <a:latin typeface="Microsoft YaHei"/>
                <a:ea typeface="Microsoft YaHei"/>
              </a:rPr>
              <a:t>每页只回答四件事：问题是什么｜数据如何流动｜模型如何学习｜方法边界在哪里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154680"/>
            <a:ext cx="2633472" cy="1508760"/>
          </a:xfrm>
          <a:prstGeom prst="roundRect">
            <a:avLst/>
          </a:prstGeom>
          <a:solidFill>
            <a:srgbClr val="FF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355848"/>
            <a:ext cx="3840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1" a:lang="zh-CN">
                <a:solidFill>
                  <a:srgbClr val="EF673C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85032"/>
            <a:ext cx="22860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17212B"/>
                </a:solidFill>
                <a:latin typeface="Microsoft YaHei"/>
                <a:ea typeface="Microsoft YaHei"/>
              </a:rPr>
              <a:t>操作学习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2286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0" a:lang="zh-CN">
                <a:solidFill>
                  <a:srgbClr val="64707B"/>
                </a:solidFill>
                <a:latin typeface="Microsoft YaHei"/>
                <a:ea typeface="Microsoft YaHei"/>
              </a:rPr>
              <a:t>MonetGPT · JarvisArt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9856" y="3154680"/>
            <a:ext cx="2633472" cy="1508760"/>
          </a:xfrm>
          <a:prstGeom prst="roundRect">
            <a:avLst/>
          </a:prstGeom>
          <a:solidFill>
            <a:srgbClr val="F0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3355848"/>
            <a:ext cx="3840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1" a:lang="zh-CN">
                <a:solidFill>
                  <a:srgbClr val="7657C9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3685032"/>
            <a:ext cx="22860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17212B"/>
                </a:solidFill>
                <a:latin typeface="Microsoft YaHei"/>
                <a:ea typeface="Microsoft YaHei"/>
              </a:rPr>
              <a:t>评价与规划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4114800"/>
            <a:ext cx="2286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0" a:lang="zh-CN">
                <a:solidFill>
                  <a:srgbClr val="64707B"/>
                </a:solidFill>
                <a:latin typeface="Microsoft YaHei"/>
                <a:ea typeface="Microsoft YaHei"/>
              </a:rPr>
              <a:t>RetouchIQ · JarvisEvo · PhotoAgent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4" y="3154680"/>
            <a:ext cx="2633472" cy="1508760"/>
          </a:xfrm>
          <a:prstGeom prst="roundRect">
            <a:avLst/>
          </a:prstGeom>
          <a:solidFill>
            <a:srgbClr val="E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3355848"/>
            <a:ext cx="3840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1" a:lang="zh-CN">
                <a:solidFill>
                  <a:srgbClr val="168F82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3685032"/>
            <a:ext cx="22860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17212B"/>
                </a:solidFill>
                <a:latin typeface="Microsoft YaHei"/>
                <a:ea typeface="Microsoft YaHei"/>
              </a:rPr>
              <a:t>高保真执行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4114800"/>
            <a:ext cx="2286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0" a:lang="zh-CN">
                <a:solidFill>
                  <a:srgbClr val="64707B"/>
                </a:solidFill>
                <a:latin typeface="Microsoft YaHei"/>
                <a:ea typeface="Microsoft YaHei"/>
              </a:rPr>
              <a:t>InstantRetouch · SA-LUT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25711" y="3154680"/>
            <a:ext cx="2633472" cy="150876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0303" y="3355848"/>
            <a:ext cx="3840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1" a:lang="zh-CN">
                <a:solidFill>
                  <a:srgbClr val="3574D4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3" y="3685032"/>
            <a:ext cx="22860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17212B"/>
                </a:solidFill>
                <a:latin typeface="Microsoft YaHei"/>
                <a:ea typeface="Microsoft YaHei"/>
              </a:rPr>
              <a:t>视频闭环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3" y="4114800"/>
            <a:ext cx="2286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0" a:lang="zh-CN">
                <a:solidFill>
                  <a:srgbClr val="64707B"/>
                </a:solidFill>
                <a:latin typeface="Microsoft YaHei"/>
                <a:ea typeface="Microsoft YaHei"/>
              </a:rPr>
              <a:t>Video LUT · LumiVideo · Keyframe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138928"/>
            <a:ext cx="11055096" cy="804672"/>
          </a:xfrm>
          <a:prstGeom prst="roundRect">
            <a:avLst/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340096"/>
            <a:ext cx="105156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2000" b="1" a:lang="zh-CN">
                <a:solidFill>
                  <a:srgbClr val="FFFFFF"/>
                </a:solidFill>
                <a:latin typeface="Microsoft YaHei"/>
                <a:ea typeface="Microsoft YaHei"/>
              </a:rPr>
              <a:t>阅读顺序：先看研究问题，再沿编号 1→4 追踪方法，最后看核心机制与边界。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510528"/>
            <a:ext cx="106527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780" b="0" a:lang="zh-CN">
                <a:solidFill>
                  <a:srgbClr val="64707B"/>
                </a:solidFill>
                <a:latin typeface="Microsoft YaHei"/>
                <a:ea typeface="Microsoft YaHei"/>
              </a:rPr>
              <a:t>Survey deck · updated 2026-08-07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20272" y="6483096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850" b="1" a:lang="zh-CN">
                <a:solidFill>
                  <a:srgbClr val="64707B"/>
                </a:solidFill>
                <a:latin typeface="Microsoft YaHei"/>
                <a:ea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43891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 a:lang="zh-CN">
                <a:solidFill>
                  <a:srgbClr val="EF673C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137160"/>
            <a:ext cx="80924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a:lang="zh-CN">
                <a:solidFill>
                  <a:srgbClr val="17212B"/>
                </a:solidFill>
                <a:latin typeface="Microsoft YaHei"/>
                <a:ea typeface="Microsoft YaHei"/>
              </a:rPr>
              <a:t>MonetGPT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34272" y="192024"/>
            <a:ext cx="26334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1050" b="0" a:lang="zh-CN">
                <a:solidFill>
                  <a:srgbClr val="64707B"/>
                </a:solidFill>
                <a:latin typeface="Microsoft YaHei"/>
                <a:ea typeface="Microsoft YaHei"/>
              </a:rPr>
              <a:t>SIGGRAPH 2025 · arXiv:2505.06176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58368"/>
            <a:ext cx="11183112" cy="502920"/>
          </a:xfrm>
          <a:prstGeom prst="roundRect">
            <a:avLst/>
          </a:prstGeom>
          <a:solidFill>
            <a:srgbClr val="FF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768096"/>
            <a:ext cx="93268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 a:lang="zh-CN">
                <a:solidFill>
                  <a:srgbClr val="EF673C"/>
                </a:solidFill>
                <a:latin typeface="Microsoft YaHei"/>
                <a:ea typeface="Microsoft YaHei"/>
              </a:rPr>
              <a:t>研究问题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731520"/>
            <a:ext cx="9857232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如何让 MLLM 理解“操作—参数—视觉效应”，并把图像缺陷诊断转化为可执行的程序化编辑序列？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07592"/>
            <a:ext cx="11183112" cy="2670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netg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19" y="1417320"/>
            <a:ext cx="9938512" cy="24505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4178808"/>
            <a:ext cx="25877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4297680"/>
            <a:ext cx="310896" cy="310896"/>
          </a:xfrm>
          <a:prstGeom prst="roundRect">
            <a:avLst/>
          </a:prstGeom>
          <a:solidFill>
            <a:srgbClr val="EF6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4297680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427024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专家编辑对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4645152"/>
            <a:ext cx="229514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20" b="0" a:lang="zh-CN">
                <a:solidFill>
                  <a:srgbClr val="64707B"/>
                </a:solidFill>
                <a:latin typeface="Microsoft YaHei"/>
                <a:ea typeface="Microsoft YaHei"/>
              </a:rPr>
              <a:t>以专家修图结果为目标，程序化扰动曝光、色温、HSL 等参数。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9815" y="4599432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EF673C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28415" y="4178808"/>
            <a:ext cx="25877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38144" y="4297680"/>
            <a:ext cx="310896" cy="310896"/>
          </a:xfrm>
          <a:prstGeom prst="roundRect">
            <a:avLst/>
          </a:prstGeom>
          <a:solidFill>
            <a:srgbClr val="EF6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38144" y="4297680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79" y="427024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视觉谜题课程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645152"/>
            <a:ext cx="229514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20" b="0" a:lang="zh-CN">
                <a:solidFill>
                  <a:srgbClr val="64707B"/>
                </a:solidFill>
                <a:latin typeface="Microsoft YaHei"/>
                <a:ea typeface="Microsoft YaHei"/>
              </a:rPr>
              <a:t>构造操作识别、参数强度排序和完整编辑规划三类训练任务。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5312" y="4599432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EF673C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4178808"/>
            <a:ext cx="25877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63640" y="4297680"/>
            <a:ext cx="310896" cy="310896"/>
          </a:xfrm>
          <a:prstGeom prst="roundRect">
            <a:avLst/>
          </a:prstGeom>
          <a:solidFill>
            <a:srgbClr val="EF6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4297680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5975" y="427024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操作感知微调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4645152"/>
            <a:ext cx="229514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20" b="0" a:lang="zh-CN">
                <a:solidFill>
                  <a:srgbClr val="64707B"/>
                </a:solidFill>
                <a:latin typeface="Microsoft YaHei"/>
                <a:ea typeface="Microsoft YaHei"/>
              </a:rPr>
              <a:t>用合成推理数据微调 MLLM，学习诊断、操作选择与参数回归。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50808" y="4599432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EF673C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79408" y="4178808"/>
            <a:ext cx="25877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89136" y="4297680"/>
            <a:ext cx="310896" cy="310896"/>
          </a:xfrm>
          <a:prstGeom prst="roundRect">
            <a:avLst/>
          </a:prstGeom>
          <a:solidFill>
            <a:srgbClr val="EF6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89136" y="4297680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1472" y="427024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规划并执行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5712" y="4645152"/>
            <a:ext cx="229514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20" b="0" a:lang="zh-CN">
                <a:solidFill>
                  <a:srgbClr val="64707B"/>
                </a:solidFill>
                <a:latin typeface="Microsoft YaHei"/>
                <a:ea typeface="Microsoft YaHei"/>
              </a:rPr>
              <a:t>输入原图后分阶段输出操作序列和参数，由确定性滤镜渲染。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623560"/>
            <a:ext cx="11183112" cy="713232"/>
          </a:xfrm>
          <a:prstGeom prst="roundRect">
            <a:avLst/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760720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EF673C"/>
                </a:solidFill>
                <a:latin typeface="Microsoft YaHei"/>
                <a:ea typeface="Microsoft YaHei"/>
              </a:rPr>
              <a:t>核心机制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05856"/>
            <a:ext cx="469087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60" b="1" a:lang="zh-CN">
                <a:solidFill>
                  <a:srgbClr val="FFFFFF"/>
                </a:solidFill>
                <a:latin typeface="Microsoft YaHei"/>
                <a:ea typeface="Microsoft YaHei"/>
              </a:rPr>
              <a:t>用视觉谜题建立操作及参数的视觉因果落地。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5760720"/>
            <a:ext cx="80467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EF673C"/>
                </a:solidFill>
                <a:latin typeface="Microsoft YaHei"/>
                <a:ea typeface="Microsoft YaHei"/>
              </a:rPr>
              <a:t>尚未解决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5705856"/>
            <a:ext cx="4242816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40" b="0" a:lang="zh-CN">
                <a:solidFill>
                  <a:srgbClr val="FFFFFF"/>
                </a:solidFill>
                <a:latin typeface="Microsoft YaHei"/>
                <a:ea typeface="Microsoft YaHei"/>
              </a:rPr>
              <a:t>仅处理单图与预定义操作库；没有时间状态。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6510528"/>
            <a:ext cx="106527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780" b="0" a:lang="zh-CN">
                <a:solidFill>
                  <a:srgbClr val="64707B"/>
                </a:solidFill>
                <a:latin typeface="Microsoft YaHei"/>
                <a:ea typeface="Microsoft YaHei"/>
              </a:rPr>
              <a:t>图源：MonetGPT，Fig. 1 · https://arxiv.org/abs/2505.06176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20272" y="6483096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850" b="1" a:lang="zh-CN">
                <a:solidFill>
                  <a:srgbClr val="64707B"/>
                </a:solidFill>
                <a:latin typeface="Microsoft YaHei"/>
                <a:ea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43891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 a:lang="zh-CN">
                <a:solidFill>
                  <a:srgbClr val="3574D4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137160"/>
            <a:ext cx="80924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a:lang="zh-CN">
                <a:solidFill>
                  <a:srgbClr val="17212B"/>
                </a:solidFill>
                <a:latin typeface="Microsoft YaHei"/>
                <a:ea typeface="Microsoft YaHei"/>
              </a:rPr>
              <a:t>JarvisArt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34272" y="192024"/>
            <a:ext cx="26334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1050" b="0" a:lang="zh-CN">
                <a:solidFill>
                  <a:srgbClr val="64707B"/>
                </a:solidFill>
                <a:latin typeface="Microsoft YaHei"/>
                <a:ea typeface="Microsoft YaHei"/>
              </a:rPr>
              <a:t>NeurIPS 2025 · arXiv:2506.17612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58368"/>
            <a:ext cx="11183112" cy="50292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768096"/>
            <a:ext cx="93268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 a:lang="zh-CN">
                <a:solidFill>
                  <a:srgbClr val="3574D4"/>
                </a:solidFill>
                <a:latin typeface="Microsoft YaHei"/>
                <a:ea typeface="Microsoft YaHei"/>
              </a:rPr>
              <a:t>研究问题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731520"/>
            <a:ext cx="9857232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如何把自然语言、局部选区与专业审美意图映射到 200+ 个强耦合 Lightroom 工具和参数？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07592"/>
            <a:ext cx="676656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jarvis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39" y="1444752"/>
            <a:ext cx="6080720" cy="38862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498079" y="1307592"/>
            <a:ext cx="4187952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07807" y="1426464"/>
            <a:ext cx="310896" cy="310896"/>
          </a:xfrm>
          <a:prstGeom prst="roundRect">
            <a:avLst/>
          </a:prstGeom>
          <a:solidFill>
            <a:srgbClr val="357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07807" y="1426464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0144" y="1399032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构造编辑对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44383" y="1792224"/>
            <a:ext cx="389534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0" a:lang="zh-CN">
                <a:solidFill>
                  <a:srgbClr val="64707B"/>
                </a:solidFill>
                <a:latin typeface="Microsoft YaHei"/>
                <a:ea typeface="Microsoft YaHei"/>
              </a:rPr>
              <a:t>RAW 图像、区域检测和全局/局部预设生成源图—目标图及真实配置。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5752" y="2176272"/>
            <a:ext cx="27432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3574D4"/>
                </a:solidFill>
                <a:latin typeface="Microsoft YaHei"/>
                <a:ea typeface="Microsoft YaHei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350008"/>
            <a:ext cx="4187952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07807" y="2468879"/>
            <a:ext cx="310896" cy="310896"/>
          </a:xfrm>
          <a:prstGeom prst="roundRect">
            <a:avLst/>
          </a:prstGeom>
          <a:solidFill>
            <a:srgbClr val="357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7" y="2468879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2441448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反向生成指令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4383" y="2834639"/>
            <a:ext cx="389534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0" a:lang="zh-CN">
                <a:solidFill>
                  <a:srgbClr val="64707B"/>
                </a:solidFill>
                <a:latin typeface="Microsoft YaHei"/>
                <a:ea typeface="Microsoft YaHei"/>
              </a:rPr>
              <a:t>依据图像差异和配置，合成不同专业程度的用户请求。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2" y="3218687"/>
            <a:ext cx="27432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3574D4"/>
                </a:solidFill>
                <a:latin typeface="Microsoft YaHei"/>
                <a:ea typeface="Microsoft YaHei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3392424"/>
            <a:ext cx="4187952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07807" y="3511296"/>
            <a:ext cx="310896" cy="310896"/>
          </a:xfrm>
          <a:prstGeom prst="roundRect">
            <a:avLst/>
          </a:prstGeom>
          <a:solidFill>
            <a:srgbClr val="357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07807" y="3511296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0144" y="3483864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学习推理与策略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44383" y="3877056"/>
            <a:ext cx="389534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0" a:lang="zh-CN">
                <a:solidFill>
                  <a:srgbClr val="64707B"/>
                </a:solidFill>
                <a:latin typeface="Microsoft YaHei"/>
                <a:ea typeface="Microsoft YaHei"/>
              </a:rPr>
              <a:t>CoT SFT 建立工具先验；GRPO-R 进一步优化工具选择和参数。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2" y="4261104"/>
            <a:ext cx="27432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3574D4"/>
                </a:solidFill>
                <a:latin typeface="Microsoft YaHei"/>
                <a:ea typeface="Microsoft YaHei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4434840"/>
            <a:ext cx="4187952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607807" y="4553712"/>
            <a:ext cx="310896" cy="310896"/>
          </a:xfrm>
          <a:prstGeom prst="roundRect">
            <a:avLst/>
          </a:prstGeom>
          <a:solidFill>
            <a:srgbClr val="357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07807" y="4553712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0144" y="4526279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连接 Lightroom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4919472"/>
            <a:ext cx="389534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0" a:lang="zh-CN">
                <a:solidFill>
                  <a:srgbClr val="64707B"/>
                </a:solidFill>
                <a:latin typeface="Microsoft YaHei"/>
                <a:ea typeface="Microsoft YaHei"/>
              </a:rPr>
              <a:t>通过 Agent-to-Lightroom 协议执行全局及局部操作。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623560"/>
            <a:ext cx="11183112" cy="713232"/>
          </a:xfrm>
          <a:prstGeom prst="roundRect">
            <a:avLst/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760720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3574D4"/>
                </a:solidFill>
                <a:latin typeface="Microsoft YaHei"/>
                <a:ea typeface="Microsoft YaHei"/>
              </a:rPr>
              <a:t>核心机制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05856"/>
            <a:ext cx="469087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60" b="1" a:lang="zh-CN">
                <a:solidFill>
                  <a:srgbClr val="FFFFFF"/>
                </a:solidFill>
                <a:latin typeface="Microsoft YaHei"/>
                <a:ea typeface="Microsoft YaHei"/>
              </a:rPr>
              <a:t>将开放语言意图落地为真实专业软件的长尾动作。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5760720"/>
            <a:ext cx="80467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3574D4"/>
                </a:solidFill>
                <a:latin typeface="Microsoft YaHei"/>
                <a:ea typeface="Microsoft YaHei"/>
              </a:rPr>
              <a:t>尚未解决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5705856"/>
            <a:ext cx="4242816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40" b="0" a:lang="zh-CN">
                <a:solidFill>
                  <a:srgbClr val="FFFFFF"/>
                </a:solidFill>
                <a:latin typeface="Microsoft YaHei"/>
                <a:ea typeface="Microsoft YaHei"/>
              </a:rPr>
              <a:t>训练和评价仍以静态图像为基本单位。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6510528"/>
            <a:ext cx="106527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780" b="0" a:lang="zh-CN">
                <a:solidFill>
                  <a:srgbClr val="64707B"/>
                </a:solidFill>
                <a:latin typeface="Microsoft YaHei"/>
                <a:ea typeface="Microsoft YaHei"/>
              </a:rPr>
              <a:t>图源：JarvisArt，Fig. 2 · https://arxiv.org/abs/2506.17612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20272" y="6483096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850" b="1" a:lang="zh-CN">
                <a:solidFill>
                  <a:srgbClr val="64707B"/>
                </a:solidFill>
                <a:latin typeface="Microsoft YaHei"/>
                <a:ea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43891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 a:lang="zh-CN">
                <a:solidFill>
                  <a:srgbClr val="7657C9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137160"/>
            <a:ext cx="80924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a:lang="zh-CN">
                <a:solidFill>
                  <a:srgbClr val="17212B"/>
                </a:solidFill>
                <a:latin typeface="Microsoft YaHei"/>
                <a:ea typeface="Microsoft YaHei"/>
              </a:rPr>
              <a:t>RetouchIQ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34272" y="192024"/>
            <a:ext cx="26334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1050" b="0" a:lang="zh-CN">
                <a:solidFill>
                  <a:srgbClr val="64707B"/>
                </a:solidFill>
                <a:latin typeface="Microsoft YaHei"/>
                <a:ea typeface="Microsoft YaHei"/>
              </a:rPr>
              <a:t>CVPR 2026 · arXiv:2602.17558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58368"/>
            <a:ext cx="11183112" cy="502920"/>
          </a:xfrm>
          <a:prstGeom prst="roundRect">
            <a:avLst/>
          </a:prstGeom>
          <a:solidFill>
            <a:srgbClr val="F0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768096"/>
            <a:ext cx="93268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 a:lang="zh-CN">
                <a:solidFill>
                  <a:srgbClr val="7657C9"/>
                </a:solidFill>
                <a:latin typeface="Microsoft YaHei"/>
                <a:ea typeface="Microsoft YaHei"/>
              </a:rPr>
              <a:t>研究问题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731520"/>
            <a:ext cx="9857232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创意修图存在多个同样合理的结果，如何获得不依赖单一参考图、又能用于强化学习的可靠奖励？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07592"/>
            <a:ext cx="676656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touchi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79951"/>
            <a:ext cx="6455664" cy="28158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498079" y="1307592"/>
            <a:ext cx="4187952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07807" y="1426464"/>
            <a:ext cx="310896" cy="310896"/>
          </a:xfrm>
          <a:prstGeom prst="roundRect">
            <a:avLst/>
          </a:prstGeom>
          <a:solidFill>
            <a:srgbClr val="76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07807" y="1426464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0144" y="1399032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策略数据构造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44383" y="1792224"/>
            <a:ext cx="389534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0" a:lang="zh-CN">
                <a:solidFill>
                  <a:srgbClr val="64707B"/>
                </a:solidFill>
                <a:latin typeface="Microsoft YaHei"/>
                <a:ea typeface="Microsoft YaHei"/>
              </a:rPr>
              <a:t>由 before/after、真实参数和人工编辑记录生成指令与推理数据。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5752" y="2176272"/>
            <a:ext cx="27432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7657C9"/>
                </a:solidFill>
                <a:latin typeface="Microsoft YaHei"/>
                <a:ea typeface="Microsoft YaHei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350008"/>
            <a:ext cx="4187952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07807" y="2468879"/>
            <a:ext cx="310896" cy="310896"/>
          </a:xfrm>
          <a:prstGeom prst="roundRect">
            <a:avLst/>
          </a:prstGeom>
          <a:solidFill>
            <a:srgbClr val="76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7" y="2468879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2441448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SFT 编辑策略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4383" y="2834639"/>
            <a:ext cx="389534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0" a:lang="zh-CN">
                <a:solidFill>
                  <a:srgbClr val="64707B"/>
                </a:solidFill>
                <a:latin typeface="Microsoft YaHei"/>
                <a:ea typeface="Microsoft YaHei"/>
              </a:rPr>
              <a:t>策略 MLLM 输出意图解释、推理轨迹以及可执行参数。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2" y="3218687"/>
            <a:ext cx="27432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7657C9"/>
                </a:solidFill>
                <a:latin typeface="Microsoft YaHei"/>
                <a:ea typeface="Microsoft YaHei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3392424"/>
            <a:ext cx="4187952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07807" y="3511296"/>
            <a:ext cx="310896" cy="310896"/>
          </a:xfrm>
          <a:prstGeom prst="roundRect">
            <a:avLst/>
          </a:prstGeom>
          <a:solidFill>
            <a:srgbClr val="76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07807" y="3511296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0144" y="3483864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执行候选编辑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44383" y="3877056"/>
            <a:ext cx="389534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0" a:lang="zh-CN">
                <a:solidFill>
                  <a:srgbClr val="64707B"/>
                </a:solidFill>
                <a:latin typeface="Microsoft YaHei"/>
                <a:ea typeface="Microsoft YaHei"/>
              </a:rPr>
              <a:t>在专业工具中渲染结果，使奖励可观察真实视觉后果。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2" y="4261104"/>
            <a:ext cx="27432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7657C9"/>
                </a:solidFill>
                <a:latin typeface="Microsoft YaHei"/>
                <a:ea typeface="Microsoft YaHei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4434840"/>
            <a:ext cx="4187952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607807" y="4553712"/>
            <a:ext cx="310896" cy="310896"/>
          </a:xfrm>
          <a:prstGeom prst="roundRect">
            <a:avLst/>
          </a:prstGeom>
          <a:solidFill>
            <a:srgbClr val="76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07807" y="4553712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0144" y="4526279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通用奖励强化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4919472"/>
            <a:ext cx="389534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0" a:lang="zh-CN">
                <a:solidFill>
                  <a:srgbClr val="64707B"/>
                </a:solidFill>
                <a:latin typeface="Microsoft YaHei"/>
                <a:ea typeface="Microsoft YaHei"/>
              </a:rPr>
              <a:t>GRM 针对样本生成评价维度与标量反馈，再优化编辑策略。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623560"/>
            <a:ext cx="11183112" cy="713232"/>
          </a:xfrm>
          <a:prstGeom prst="roundRect">
            <a:avLst/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760720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7657C9"/>
                </a:solidFill>
                <a:latin typeface="Microsoft YaHei"/>
                <a:ea typeface="Microsoft YaHei"/>
              </a:rPr>
              <a:t>核心机制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05856"/>
            <a:ext cx="469087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60" b="1" a:lang="zh-CN">
                <a:solidFill>
                  <a:srgbClr val="FFFFFF"/>
                </a:solidFill>
                <a:latin typeface="Microsoft YaHei"/>
                <a:ea typeface="Microsoft YaHei"/>
              </a:rPr>
              <a:t>把样本自适应的多模态评价转化为 RL 奖励。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5760720"/>
            <a:ext cx="80467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7657C9"/>
                </a:solidFill>
                <a:latin typeface="Microsoft YaHei"/>
                <a:ea typeface="Microsoft YaHei"/>
              </a:rPr>
              <a:t>尚未解决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5705856"/>
            <a:ext cx="4242816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40" b="0" a:lang="zh-CN">
                <a:solidFill>
                  <a:srgbClr val="FFFFFF"/>
                </a:solidFill>
                <a:latin typeface="Microsoft YaHei"/>
                <a:ea typeface="Microsoft YaHei"/>
              </a:rPr>
              <a:t>没有显式时序奖励；仍可能产生奖励偏置。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6510528"/>
            <a:ext cx="106527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780" b="0" a:lang="zh-CN">
                <a:solidFill>
                  <a:srgbClr val="64707B"/>
                </a:solidFill>
                <a:latin typeface="Microsoft YaHei"/>
                <a:ea typeface="Microsoft YaHei"/>
              </a:rPr>
              <a:t>图源：RetouchIQ，Fig. 2 · https://arxiv.org/abs/2602.17558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20272" y="6483096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850" b="1" a:lang="zh-CN">
                <a:solidFill>
                  <a:srgbClr val="64707B"/>
                </a:solidFill>
                <a:latin typeface="Microsoft YaHei"/>
                <a:ea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43891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 a:lang="zh-CN">
                <a:solidFill>
                  <a:srgbClr val="168F82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137160"/>
            <a:ext cx="80924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a:lang="zh-CN">
                <a:solidFill>
                  <a:srgbClr val="17212B"/>
                </a:solidFill>
                <a:latin typeface="Microsoft YaHei"/>
                <a:ea typeface="Microsoft YaHei"/>
              </a:rPr>
              <a:t>JarvisEvo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34272" y="192024"/>
            <a:ext cx="26334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1050" b="0" a:lang="zh-CN">
                <a:solidFill>
                  <a:srgbClr val="64707B"/>
                </a:solidFill>
                <a:latin typeface="Microsoft YaHei"/>
                <a:ea typeface="Microsoft YaHei"/>
              </a:rPr>
              <a:t>CVPR 2026 · arXiv:2511.23002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58368"/>
            <a:ext cx="11183112" cy="502920"/>
          </a:xfrm>
          <a:prstGeom prst="roundRect">
            <a:avLst/>
          </a:prstGeom>
          <a:solidFill>
            <a:srgbClr val="E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768096"/>
            <a:ext cx="93268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 a:lang="zh-CN">
                <a:solidFill>
                  <a:srgbClr val="168F82"/>
                </a:solidFill>
                <a:latin typeface="Microsoft YaHei"/>
                <a:ea typeface="Microsoft YaHei"/>
              </a:rPr>
              <a:t>研究问题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731520"/>
            <a:ext cx="9857232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如何缓解文本 CoT 看不到中间图像造成的指令幻觉，以及固定评价器带来的 reward hacking？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07592"/>
            <a:ext cx="11183112" cy="2670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jarvise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83216"/>
            <a:ext cx="10872216" cy="231879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4178808"/>
            <a:ext cx="25877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4297680"/>
            <a:ext cx="310896" cy="310896"/>
          </a:xfrm>
          <a:prstGeom prst="roundRect">
            <a:avLst/>
          </a:prstGeom>
          <a:solidFill>
            <a:srgbClr val="16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4297680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427024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观察状态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4645152"/>
            <a:ext cx="229514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20" b="0" a:lang="zh-CN">
                <a:solidFill>
                  <a:srgbClr val="64707B"/>
                </a:solidFill>
                <a:latin typeface="Microsoft YaHei"/>
                <a:ea typeface="Microsoft YaHei"/>
              </a:rPr>
              <a:t>读取用户指令、原图及当前编辑状态，而非只编码一次图像。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9815" y="4599432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168F82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28415" y="4178808"/>
            <a:ext cx="25877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38144" y="4297680"/>
            <a:ext cx="310896" cy="310896"/>
          </a:xfrm>
          <a:prstGeom prst="roundRect">
            <a:avLst/>
          </a:prstGeom>
          <a:solidFill>
            <a:srgbClr val="16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38144" y="4297680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79" y="427024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执行原子操作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645152"/>
            <a:ext cx="229514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20" b="0" a:lang="zh-CN">
                <a:solidFill>
                  <a:srgbClr val="64707B"/>
                </a:solidFill>
                <a:latin typeface="Microsoft YaHei"/>
                <a:ea typeface="Microsoft YaHei"/>
              </a:rPr>
              <a:t>调用 Lightroom 工具，立即得到可观察的中间结果。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5312" y="4599432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168F82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4178808"/>
            <a:ext cx="25877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63640" y="4297680"/>
            <a:ext cx="310896" cy="310896"/>
          </a:xfrm>
          <a:prstGeom prst="roundRect">
            <a:avLst/>
          </a:prstGeom>
          <a:solidFill>
            <a:srgbClr val="16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4297680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5975" y="427024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自评与反思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4645152"/>
            <a:ext cx="229514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20" b="0" a:lang="zh-CN">
                <a:solidFill>
                  <a:srgbClr val="64707B"/>
                </a:solidFill>
                <a:latin typeface="Microsoft YaHei"/>
                <a:ea typeface="Microsoft YaHei"/>
              </a:rPr>
              <a:t>根据中间图像判断指令满足度，解释失败并修正下一步计划。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50808" y="4599432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168F82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79408" y="4178808"/>
            <a:ext cx="25877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89136" y="4297680"/>
            <a:ext cx="310896" cy="310896"/>
          </a:xfrm>
          <a:prstGeom prst="roundRect">
            <a:avLst/>
          </a:prstGeom>
          <a:solidFill>
            <a:srgbClr val="16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89136" y="4297680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1472" y="427024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协同策略优化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5712" y="4645152"/>
            <a:ext cx="229514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20" b="0" a:lang="zh-CN">
                <a:solidFill>
                  <a:srgbClr val="64707B"/>
                </a:solidFill>
                <a:latin typeface="Microsoft YaHei"/>
                <a:ea typeface="Microsoft YaHei"/>
              </a:rPr>
              <a:t>Editor 与 Evaluator 共同更新，再以反思数据进行强化微调。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623560"/>
            <a:ext cx="11183112" cy="713232"/>
          </a:xfrm>
          <a:prstGeom prst="roundRect">
            <a:avLst/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760720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168F82"/>
                </a:solidFill>
                <a:latin typeface="Microsoft YaHei"/>
                <a:ea typeface="Microsoft YaHei"/>
              </a:rPr>
              <a:t>核心机制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05856"/>
            <a:ext cx="469087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60" b="1" a:lang="zh-CN">
                <a:solidFill>
                  <a:srgbClr val="FFFFFF"/>
                </a:solidFill>
                <a:latin typeface="Microsoft YaHei"/>
                <a:ea typeface="Microsoft YaHei"/>
              </a:rPr>
              <a:t>把视觉反馈嵌入推理，并让编辑器与评价器共演化。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5760720"/>
            <a:ext cx="80467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168F82"/>
                </a:solidFill>
                <a:latin typeface="Microsoft YaHei"/>
                <a:ea typeface="Microsoft YaHei"/>
              </a:rPr>
              <a:t>尚未解决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5705856"/>
            <a:ext cx="4242816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40" b="0" a:lang="zh-CN">
                <a:solidFill>
                  <a:srgbClr val="FFFFFF"/>
                </a:solidFill>
                <a:latin typeface="Microsoft YaHei"/>
                <a:ea typeface="Microsoft YaHei"/>
              </a:rPr>
              <a:t>闭环仍是单图操作，未建模跨帧误差累积。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6510528"/>
            <a:ext cx="106527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780" b="0" a:lang="zh-CN">
                <a:solidFill>
                  <a:srgbClr val="64707B"/>
                </a:solidFill>
                <a:latin typeface="Microsoft YaHei"/>
                <a:ea typeface="Microsoft YaHei"/>
              </a:rPr>
              <a:t>图源：JarvisEvo，Fig. 2 · https://arxiv.org/abs/2511.23002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20272" y="6483096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850" b="1" a:lang="zh-CN">
                <a:solidFill>
                  <a:srgbClr val="64707B"/>
                </a:solidFill>
                <a:latin typeface="Microsoft YaHei"/>
                <a:ea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43891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 a:lang="zh-CN">
                <a:solidFill>
                  <a:srgbClr val="EF673C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137160"/>
            <a:ext cx="80924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a:lang="zh-CN">
                <a:solidFill>
                  <a:srgbClr val="17212B"/>
                </a:solidFill>
                <a:latin typeface="Microsoft YaHei"/>
                <a:ea typeface="Microsoft YaHei"/>
              </a:rPr>
              <a:t>PhotoAgent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34272" y="192024"/>
            <a:ext cx="26334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1050" b="0" a:lang="zh-CN">
                <a:solidFill>
                  <a:srgbClr val="64707B"/>
                </a:solidFill>
                <a:latin typeface="Microsoft YaHei"/>
                <a:ea typeface="Microsoft YaHei"/>
              </a:rPr>
              <a:t>2026 · arXiv:2602.22809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58368"/>
            <a:ext cx="11183112" cy="502920"/>
          </a:xfrm>
          <a:prstGeom prst="roundRect">
            <a:avLst/>
          </a:prstGeom>
          <a:solidFill>
            <a:srgbClr val="FF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768096"/>
            <a:ext cx="93268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 a:lang="zh-CN">
                <a:solidFill>
                  <a:srgbClr val="EF673C"/>
                </a:solidFill>
                <a:latin typeface="Microsoft YaHei"/>
                <a:ea typeface="Microsoft YaHei"/>
              </a:rPr>
              <a:t>研究问题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731520"/>
            <a:ext cx="9857232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如何在用户不给出逐步指令时，将自动修图建模为具有延迟审美回报的长时域决策问题？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07592"/>
            <a:ext cx="11183112" cy="2670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hoto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423" y="1417320"/>
            <a:ext cx="7078105" cy="24505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4178808"/>
            <a:ext cx="25877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4297680"/>
            <a:ext cx="310896" cy="310896"/>
          </a:xfrm>
          <a:prstGeom prst="roundRect">
            <a:avLst/>
          </a:prstGeom>
          <a:solidFill>
            <a:srgbClr val="EF6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4297680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427024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感知当前状态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4645152"/>
            <a:ext cx="229514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20" b="0" a:lang="zh-CN">
                <a:solidFill>
                  <a:srgbClr val="64707B"/>
                </a:solidFill>
                <a:latin typeface="Microsoft YaHei"/>
                <a:ea typeface="Microsoft YaHei"/>
              </a:rPr>
              <a:t>Perceiver 分析构图、曝光、颜色和用户审美目标。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9815" y="4599432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EF673C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28415" y="4178808"/>
            <a:ext cx="25877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38144" y="4297680"/>
            <a:ext cx="310896" cy="310896"/>
          </a:xfrm>
          <a:prstGeom prst="roundRect">
            <a:avLst/>
          </a:prstGeom>
          <a:solidFill>
            <a:srgbClr val="EF6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38144" y="4297680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79" y="427024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提出候选动作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645152"/>
            <a:ext cx="229514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20" b="0" a:lang="zh-CN">
                <a:solidFill>
                  <a:srgbClr val="64707B"/>
                </a:solidFill>
                <a:latin typeface="Microsoft YaHei"/>
                <a:ea typeface="Microsoft YaHei"/>
              </a:rPr>
              <a:t>从基础工具、AI 工具与生成式工具中产生下一步候选。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5312" y="4599432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EF673C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4178808"/>
            <a:ext cx="25877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63640" y="4297680"/>
            <a:ext cx="310896" cy="310896"/>
          </a:xfrm>
          <a:prstGeom prst="roundRect">
            <a:avLst/>
          </a:prstGeom>
          <a:solidFill>
            <a:srgbClr val="EF6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4297680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5975" y="427024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MCTS 长期搜索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4645152"/>
            <a:ext cx="229514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20" b="0" a:lang="zh-CN">
                <a:solidFill>
                  <a:srgbClr val="64707B"/>
                </a:solidFill>
                <a:latin typeface="Microsoft YaHei"/>
                <a:ea typeface="Microsoft YaHei"/>
              </a:rPr>
              <a:t>模拟多条编辑轨迹，用学习式审美奖励评价未来结果。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50808" y="4599432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EF673C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79408" y="4178808"/>
            <a:ext cx="25877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89136" y="4297680"/>
            <a:ext cx="310896" cy="310896"/>
          </a:xfrm>
          <a:prstGeom prst="roundRect">
            <a:avLst/>
          </a:prstGeom>
          <a:solidFill>
            <a:srgbClr val="EF6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89136" y="4297680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1472" y="427024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执行与回滚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5712" y="4645152"/>
            <a:ext cx="229514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20" b="0" a:lang="zh-CN">
                <a:solidFill>
                  <a:srgbClr val="64707B"/>
                </a:solidFill>
                <a:latin typeface="Microsoft YaHei"/>
                <a:ea typeface="Microsoft YaHei"/>
              </a:rPr>
              <a:t>执行最优动作，写入 Memory；结果退化时回滚并重新规划。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623560"/>
            <a:ext cx="11183112" cy="713232"/>
          </a:xfrm>
          <a:prstGeom prst="roundRect">
            <a:avLst/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760720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EF673C"/>
                </a:solidFill>
                <a:latin typeface="Microsoft YaHei"/>
                <a:ea typeface="Microsoft YaHei"/>
              </a:rPr>
              <a:t>核心机制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05856"/>
            <a:ext cx="469087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60" b="1" a:lang="zh-CN">
                <a:solidFill>
                  <a:srgbClr val="FFFFFF"/>
                </a:solidFill>
                <a:latin typeface="Microsoft YaHei"/>
                <a:ea typeface="Microsoft YaHei"/>
              </a:rPr>
              <a:t>用树搜索优化最终结果，而不是贪心选择单步操作。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5760720"/>
            <a:ext cx="80467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EF673C"/>
                </a:solidFill>
                <a:latin typeface="Microsoft YaHei"/>
                <a:ea typeface="Microsoft YaHei"/>
              </a:rPr>
              <a:t>尚未解决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5705856"/>
            <a:ext cx="4242816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40" b="0" a:lang="zh-CN">
                <a:solidFill>
                  <a:srgbClr val="FFFFFF"/>
                </a:solidFill>
                <a:latin typeface="Microsoft YaHei"/>
                <a:ea typeface="Microsoft YaHei"/>
              </a:rPr>
              <a:t>搜索成本高，且完全依赖学习式评价器。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6510528"/>
            <a:ext cx="106527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780" b="0" a:lang="zh-CN">
                <a:solidFill>
                  <a:srgbClr val="64707B"/>
                </a:solidFill>
                <a:latin typeface="Microsoft YaHei"/>
                <a:ea typeface="Microsoft YaHei"/>
              </a:rPr>
              <a:t>图源：PhotoAgent，Fig. 2 · https://arxiv.org/abs/2602.22809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20272" y="6483096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850" b="1" a:lang="zh-CN">
                <a:solidFill>
                  <a:srgbClr val="64707B"/>
                </a:solidFill>
                <a:latin typeface="Microsoft YaHei"/>
                <a:ea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43891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 a:lang="zh-CN">
                <a:solidFill>
                  <a:srgbClr val="3574D4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137160"/>
            <a:ext cx="80924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a:lang="zh-CN">
                <a:solidFill>
                  <a:srgbClr val="17212B"/>
                </a:solidFill>
                <a:latin typeface="Microsoft YaHei"/>
                <a:ea typeface="Microsoft YaHei"/>
              </a:rPr>
              <a:t>InstantRetouch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34272" y="192024"/>
            <a:ext cx="26334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1050" b="0" a:lang="zh-CN">
                <a:solidFill>
                  <a:srgbClr val="64707B"/>
                </a:solidFill>
                <a:latin typeface="Microsoft YaHei"/>
                <a:ea typeface="Microsoft YaHei"/>
              </a:rPr>
              <a:t>CVPR 2026 · arXiv:2606.05071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58368"/>
            <a:ext cx="11183112" cy="50292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768096"/>
            <a:ext cx="93268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 a:lang="zh-CN">
                <a:solidFill>
                  <a:srgbClr val="3574D4"/>
                </a:solidFill>
                <a:latin typeface="Microsoft YaHei"/>
                <a:ea typeface="Microsoft YaHei"/>
              </a:rPr>
              <a:t>研究问题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731520"/>
            <a:ext cx="9857232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如何保留 diffusion 的审美先验，同时避免潜空间编辑造成内容漂移和多步采样的高延迟？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07592"/>
            <a:ext cx="11183112" cy="2670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nstantretou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443" y="1417320"/>
            <a:ext cx="6358065" cy="24505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4178808"/>
            <a:ext cx="25877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4297680"/>
            <a:ext cx="310896" cy="310896"/>
          </a:xfrm>
          <a:prstGeom prst="roundRect">
            <a:avLst/>
          </a:prstGeom>
          <a:solidFill>
            <a:srgbClr val="357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4297680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427024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Diffusion Teacher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4645152"/>
            <a:ext cx="229514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20" b="0" a:lang="zh-CN">
                <a:solidFill>
                  <a:srgbClr val="64707B"/>
                </a:solidFill>
                <a:latin typeface="Microsoft YaHei"/>
                <a:ea typeface="Microsoft YaHei"/>
              </a:rPr>
              <a:t>多步扩散模型提供指令跟随和审美先验，但不直接用于最终推理。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9815" y="4599432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3574D4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28415" y="4178808"/>
            <a:ext cx="25877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38144" y="4297680"/>
            <a:ext cx="310896" cy="310896"/>
          </a:xfrm>
          <a:prstGeom prst="roundRect">
            <a:avLst/>
          </a:prstGeom>
          <a:solidFill>
            <a:srgbClr val="357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38144" y="4297680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79" y="427024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一步学生模型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645152"/>
            <a:ext cx="229514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20" b="0" a:lang="zh-CN">
                <a:solidFill>
                  <a:srgbClr val="64707B"/>
                </a:solidFill>
                <a:latin typeface="Microsoft YaHei"/>
                <a:ea typeface="Microsoft YaHei"/>
              </a:rPr>
              <a:t>用 VSD 与提示对齐损失把 teacher 能力蒸馏到轻量生成器。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5312" y="4599432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3574D4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4178808"/>
            <a:ext cx="25877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63640" y="4297680"/>
            <a:ext cx="310896" cy="310896"/>
          </a:xfrm>
          <a:prstGeom prst="roundRect">
            <a:avLst/>
          </a:prstGeom>
          <a:solidFill>
            <a:srgbClr val="357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4297680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5975" y="427024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预测双边网格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4645152"/>
            <a:ext cx="229514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20" b="0" a:lang="zh-CN">
                <a:solidFill>
                  <a:srgbClr val="64707B"/>
                </a:solidFill>
                <a:latin typeface="Microsoft YaHei"/>
                <a:ea typeface="Microsoft YaHei"/>
              </a:rPr>
              <a:t>学生仅生成低分辨率 bilateral grid 与 guidance map。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50808" y="4599432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3574D4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79408" y="4178808"/>
            <a:ext cx="25877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89136" y="4297680"/>
            <a:ext cx="310896" cy="310896"/>
          </a:xfrm>
          <a:prstGeom prst="roundRect">
            <a:avLst/>
          </a:prstGeom>
          <a:solidFill>
            <a:srgbClr val="357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89136" y="4297680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1472" y="427024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全分辨率应用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5712" y="4645152"/>
            <a:ext cx="229514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20" b="0" a:lang="zh-CN">
                <a:solidFill>
                  <a:srgbClr val="64707B"/>
                </a:solidFill>
                <a:latin typeface="Microsoft YaHei"/>
                <a:ea typeface="Microsoft YaHei"/>
              </a:rPr>
              <a:t>切片得到逐像素仿射系数，直接变换原图颜色而不重建内容。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623560"/>
            <a:ext cx="11183112" cy="713232"/>
          </a:xfrm>
          <a:prstGeom prst="roundRect">
            <a:avLst/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760720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3574D4"/>
                </a:solidFill>
                <a:latin typeface="Microsoft YaHei"/>
                <a:ea typeface="Microsoft YaHei"/>
              </a:rPr>
              <a:t>核心机制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05856"/>
            <a:ext cx="469087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60" b="1" a:lang="zh-CN">
                <a:solidFill>
                  <a:srgbClr val="FFFFFF"/>
                </a:solidFill>
                <a:latin typeface="Microsoft YaHei"/>
                <a:ea typeface="Microsoft YaHei"/>
              </a:rPr>
              <a:t>生成的是内容解耦的颜色变换参数，而不是 RGB 图像。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5760720"/>
            <a:ext cx="80467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3574D4"/>
                </a:solidFill>
                <a:latin typeface="Microsoft YaHei"/>
                <a:ea typeface="Microsoft YaHei"/>
              </a:rPr>
              <a:t>尚未解决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5705856"/>
            <a:ext cx="4242816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40" b="0" a:lang="zh-CN">
                <a:solidFill>
                  <a:srgbClr val="FFFFFF"/>
                </a:solidFill>
                <a:latin typeface="Microsoft YaHei"/>
                <a:ea typeface="Microsoft YaHei"/>
              </a:rPr>
              <a:t>它是高保真执行器，不负责 Agent 规划与视频传播。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6510528"/>
            <a:ext cx="106527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780" b="0" a:lang="zh-CN">
                <a:solidFill>
                  <a:srgbClr val="64707B"/>
                </a:solidFill>
                <a:latin typeface="Microsoft YaHei"/>
                <a:ea typeface="Microsoft YaHei"/>
              </a:rPr>
              <a:t>图源：InstantRetouch，Fig. 2 · https://arxiv.org/abs/2606.05071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20272" y="6483096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850" b="1" a:lang="zh-CN">
                <a:solidFill>
                  <a:srgbClr val="64707B"/>
                </a:solidFill>
                <a:latin typeface="Microsoft YaHei"/>
                <a:ea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43891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 a:lang="zh-CN">
                <a:solidFill>
                  <a:srgbClr val="EF673C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137160"/>
            <a:ext cx="80924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a:lang="zh-CN">
                <a:solidFill>
                  <a:srgbClr val="17212B"/>
                </a:solidFill>
                <a:latin typeface="Microsoft YaHei"/>
                <a:ea typeface="Microsoft YaHei"/>
              </a:rPr>
              <a:t>Video Color Grading via LUT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34272" y="192024"/>
            <a:ext cx="26334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1050" b="0" a:lang="zh-CN">
                <a:solidFill>
                  <a:srgbClr val="64707B"/>
                </a:solidFill>
                <a:latin typeface="Microsoft YaHei"/>
                <a:ea typeface="Microsoft YaHei"/>
              </a:rPr>
              <a:t>ICCV 2025 · arXiv:2508.00548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58368"/>
            <a:ext cx="11183112" cy="502920"/>
          </a:xfrm>
          <a:prstGeom prst="roundRect">
            <a:avLst/>
          </a:prstGeom>
          <a:solidFill>
            <a:srgbClr val="FF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768096"/>
            <a:ext cx="93268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 a:lang="zh-CN">
                <a:solidFill>
                  <a:srgbClr val="EF673C"/>
                </a:solidFill>
                <a:latin typeface="Microsoft YaHei"/>
                <a:ea typeface="Microsoft YaHei"/>
              </a:rPr>
              <a:t>研究问题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731520"/>
            <a:ext cx="9857232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如何把参考视频的 look、mood 与 emotion 迁移到目标视频，并同时保持结构和时间一致性？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07592"/>
            <a:ext cx="11183112" cy="2670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ideol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159" y="1417320"/>
            <a:ext cx="9264633" cy="24505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4178808"/>
            <a:ext cx="25877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4297680"/>
            <a:ext cx="310896" cy="310896"/>
          </a:xfrm>
          <a:prstGeom prst="roundRect">
            <a:avLst/>
          </a:prstGeom>
          <a:solidFill>
            <a:srgbClr val="EF6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4297680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427024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CLIP 匹配关键帧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4645152"/>
            <a:ext cx="229514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20" b="0" a:lang="zh-CN">
                <a:solidFill>
                  <a:srgbClr val="64707B"/>
                </a:solidFill>
                <a:latin typeface="Microsoft YaHei"/>
                <a:ea typeface="Microsoft YaHei"/>
              </a:rPr>
              <a:t>从输入与参考视频中选择语义和场景构成最接近的一对帧。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9815" y="4599432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EF673C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28415" y="4178808"/>
            <a:ext cx="25877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38144" y="4297680"/>
            <a:ext cx="310896" cy="310896"/>
          </a:xfrm>
          <a:prstGeom prst="roundRect">
            <a:avLst/>
          </a:prstGeom>
          <a:solidFill>
            <a:srgbClr val="EF6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38144" y="4297680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79" y="427024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提取调色风格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645152"/>
            <a:ext cx="229514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20" b="0" a:lang="zh-CN">
                <a:solidFill>
                  <a:srgbClr val="64707B"/>
                </a:solidFill>
                <a:latin typeface="Microsoft YaHei"/>
                <a:ea typeface="Microsoft YaHei"/>
              </a:rPr>
              <a:t>GS-Extractor 编码参考帧的高层叙事风格，而非只匹配直方图。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5312" y="4599432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EF673C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4178808"/>
            <a:ext cx="25877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63640" y="4297680"/>
            <a:ext cx="310896" cy="310896"/>
          </a:xfrm>
          <a:prstGeom prst="roundRect">
            <a:avLst/>
          </a:prstGeom>
          <a:solidFill>
            <a:srgbClr val="EF6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4297680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5975" y="427024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Diffusion 生成 LUT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4645152"/>
            <a:ext cx="229514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20" b="0" a:lang="zh-CN">
                <a:solidFill>
                  <a:srgbClr val="64707B"/>
                </a:solidFill>
                <a:latin typeface="Microsoft YaHei"/>
                <a:ea typeface="Microsoft YaHei"/>
              </a:rPr>
              <a:t>L-Diffuser 以输入帧、参考风格和 identity LUT 为条件预测显式 LUT。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50808" y="4599432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EF673C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79408" y="4178808"/>
            <a:ext cx="25877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89136" y="4297680"/>
            <a:ext cx="310896" cy="310896"/>
          </a:xfrm>
          <a:prstGeom prst="roundRect">
            <a:avLst/>
          </a:prstGeom>
          <a:solidFill>
            <a:srgbClr val="EF6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89136" y="4297680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1472" y="427024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全片共享与反馈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5712" y="4645152"/>
            <a:ext cx="229514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20" b="0" a:lang="zh-CN">
                <a:solidFill>
                  <a:srgbClr val="64707B"/>
                </a:solidFill>
                <a:latin typeface="Microsoft YaHei"/>
                <a:ea typeface="Microsoft YaHei"/>
              </a:rPr>
              <a:t>同一 LUT 应用于所有帧；文本反馈再产生亮度、对比度等调整。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623560"/>
            <a:ext cx="11183112" cy="713232"/>
          </a:xfrm>
          <a:prstGeom prst="roundRect">
            <a:avLst/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760720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EF673C"/>
                </a:solidFill>
                <a:latin typeface="Microsoft YaHei"/>
                <a:ea typeface="Microsoft YaHei"/>
              </a:rPr>
              <a:t>核心机制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05856"/>
            <a:ext cx="469087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60" b="1" a:lang="zh-CN">
                <a:solidFill>
                  <a:srgbClr val="FFFFFF"/>
                </a:solidFill>
                <a:latin typeface="Microsoft YaHei"/>
                <a:ea typeface="Microsoft YaHei"/>
              </a:rPr>
              <a:t>用 diffusion 建模复杂风格，但以显式 LUT 保持结构。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5760720"/>
            <a:ext cx="80467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EF673C"/>
                </a:solidFill>
                <a:latin typeface="Microsoft YaHei"/>
                <a:ea typeface="Microsoft YaHei"/>
              </a:rPr>
              <a:t>尚未解决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5705856"/>
            <a:ext cx="4242816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40" b="0" a:lang="zh-CN">
                <a:solidFill>
                  <a:srgbClr val="FFFFFF"/>
                </a:solidFill>
                <a:latin typeface="Microsoft YaHei"/>
                <a:ea typeface="Microsoft YaHei"/>
              </a:rPr>
              <a:t>固定 LUT 假设镜头内映射平稳，无法处理动态局部变化。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6510528"/>
            <a:ext cx="106527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780" b="0" a:lang="zh-CN">
                <a:solidFill>
                  <a:srgbClr val="64707B"/>
                </a:solidFill>
                <a:latin typeface="Microsoft YaHei"/>
                <a:ea typeface="Microsoft YaHei"/>
              </a:rPr>
              <a:t>图源：Video Color Grading via LUT，Fig. 2 · https://arxiv.org/abs/2508.00548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20272" y="6483096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850" b="1" a:lang="zh-CN">
                <a:solidFill>
                  <a:srgbClr val="64707B"/>
                </a:solidFill>
                <a:latin typeface="Microsoft YaHei"/>
                <a:ea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43891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 a:lang="zh-CN">
                <a:solidFill>
                  <a:srgbClr val="7657C9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137160"/>
            <a:ext cx="80924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a:lang="zh-CN">
                <a:solidFill>
                  <a:srgbClr val="17212B"/>
                </a:solidFill>
                <a:latin typeface="Microsoft YaHei"/>
                <a:ea typeface="Microsoft YaHei"/>
              </a:rPr>
              <a:t>LumiVideo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34272" y="192024"/>
            <a:ext cx="26334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1050" b="0" a:lang="zh-CN">
                <a:solidFill>
                  <a:srgbClr val="64707B"/>
                </a:solidFill>
                <a:latin typeface="Microsoft YaHei"/>
                <a:ea typeface="Microsoft YaHei"/>
              </a:rPr>
              <a:t>2026 · arXiv:2604.02409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58368"/>
            <a:ext cx="11183112" cy="502920"/>
          </a:xfrm>
          <a:prstGeom prst="roundRect">
            <a:avLst/>
          </a:prstGeom>
          <a:solidFill>
            <a:srgbClr val="F0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768096"/>
            <a:ext cx="93268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 a:lang="zh-CN">
                <a:solidFill>
                  <a:srgbClr val="7657C9"/>
                </a:solidFill>
                <a:latin typeface="Microsoft YaHei"/>
                <a:ea typeface="Microsoft YaHei"/>
              </a:rPr>
              <a:t>研究问题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731520"/>
            <a:ext cx="9857232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如何把 Log 视频的技术校正、创意 look 规划与专业可编辑参数统一到可审计的 Agent 工作流？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07592"/>
            <a:ext cx="676656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umivid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47930"/>
            <a:ext cx="6455664" cy="307984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498079" y="1307592"/>
            <a:ext cx="4187952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07807" y="1426464"/>
            <a:ext cx="310896" cy="310896"/>
          </a:xfrm>
          <a:prstGeom prst="roundRect">
            <a:avLst/>
          </a:prstGeom>
          <a:solidFill>
            <a:srgbClr val="76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07807" y="1426464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0144" y="1399032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双流感知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44383" y="1792224"/>
            <a:ext cx="389534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0" a:lang="zh-CN">
                <a:solidFill>
                  <a:srgbClr val="64707B"/>
                </a:solidFill>
                <a:latin typeface="Microsoft YaHei"/>
                <a:ea typeface="Microsoft YaHei"/>
              </a:rPr>
              <a:t>语义 VLM 描述叙事与主体；物理流统计曝光、色域和 Log 状态。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5752" y="2176272"/>
            <a:ext cx="27432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7657C9"/>
                </a:solidFill>
                <a:latin typeface="Microsoft YaHei"/>
                <a:ea typeface="Microsoft YaHei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350008"/>
            <a:ext cx="4187952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07807" y="2468879"/>
            <a:ext cx="310896" cy="310896"/>
          </a:xfrm>
          <a:prstGeom prst="roundRect">
            <a:avLst/>
          </a:prstGeom>
          <a:solidFill>
            <a:srgbClr val="76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7" y="2468879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2441448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知识检索与搜索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4383" y="2834639"/>
            <a:ext cx="389534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0" a:lang="zh-CN">
                <a:solidFill>
                  <a:srgbClr val="64707B"/>
                </a:solidFill>
                <a:latin typeface="Microsoft YaHei"/>
                <a:ea typeface="Microsoft YaHei"/>
              </a:rPr>
              <a:t>RAG 检索调色规则，Tree-of-Thought 生成、评价并剪枝参数方案。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2" y="3218687"/>
            <a:ext cx="27432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7657C9"/>
                </a:solidFill>
                <a:latin typeface="Microsoft YaHei"/>
                <a:ea typeface="Microsoft YaHei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3392424"/>
            <a:ext cx="4187952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07807" y="3511296"/>
            <a:ext cx="310896" cy="310896"/>
          </a:xfrm>
          <a:prstGeom prst="roundRect">
            <a:avLst/>
          </a:prstGeom>
          <a:solidFill>
            <a:srgbClr val="76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07807" y="3511296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0144" y="3483864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参数执行与预览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44383" y="3877056"/>
            <a:ext cx="389534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0" a:lang="zh-CN">
                <a:solidFill>
                  <a:srgbClr val="64707B"/>
                </a:solidFill>
                <a:latin typeface="Microsoft YaHei"/>
                <a:ea typeface="Microsoft YaHei"/>
              </a:rPr>
              <a:t>把计划编译为 CDL/LUT，在虚拟渲染环境中生成预览。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2" y="4261104"/>
            <a:ext cx="27432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7657C9"/>
                </a:solidFill>
                <a:latin typeface="Microsoft YaHei"/>
                <a:ea typeface="Microsoft YaHei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4434840"/>
            <a:ext cx="4187952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607807" y="4553712"/>
            <a:ext cx="310896" cy="310896"/>
          </a:xfrm>
          <a:prstGeom prst="roundRect">
            <a:avLst/>
          </a:prstGeom>
          <a:solidFill>
            <a:srgbClr val="76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07807" y="4553712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0144" y="4526279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导演式反思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4919472"/>
            <a:ext cx="389534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0" a:lang="zh-CN">
                <a:solidFill>
                  <a:srgbClr val="64707B"/>
                </a:solidFill>
                <a:latin typeface="Microsoft YaHei"/>
                <a:ea typeface="Microsoft YaHei"/>
              </a:rPr>
              <a:t>Critic 审查色偏、曝光和风格；迭代修改后导出最终 3D LUT。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623560"/>
            <a:ext cx="11183112" cy="713232"/>
          </a:xfrm>
          <a:prstGeom prst="roundRect">
            <a:avLst/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760720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7657C9"/>
                </a:solidFill>
                <a:latin typeface="Microsoft YaHei"/>
                <a:ea typeface="Microsoft YaHei"/>
              </a:rPr>
              <a:t>核心机制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05856"/>
            <a:ext cx="469087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60" b="1" a:lang="zh-CN">
                <a:solidFill>
                  <a:srgbClr val="FFFFFF"/>
                </a:solidFill>
                <a:latin typeface="Microsoft YaHei"/>
                <a:ea typeface="Microsoft YaHei"/>
              </a:rPr>
              <a:t>形成“感知—检索—参数执行—反思”的视频调色闭环。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5760720"/>
            <a:ext cx="80467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7657C9"/>
                </a:solidFill>
                <a:latin typeface="Microsoft YaHei"/>
                <a:ea typeface="Microsoft YaHei"/>
              </a:rPr>
              <a:t>尚未解决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5705856"/>
            <a:ext cx="4242816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40" b="0" a:lang="zh-CN">
                <a:solidFill>
                  <a:srgbClr val="FFFFFF"/>
                </a:solidFill>
                <a:latin typeface="Microsoft YaHei"/>
                <a:ea typeface="Microsoft YaHei"/>
              </a:rPr>
              <a:t>输出仍以镜头级全局映射为主，缺少局部对象轨迹。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6510528"/>
            <a:ext cx="106527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780" b="0" a:lang="zh-CN">
                <a:solidFill>
                  <a:srgbClr val="64707B"/>
                </a:solidFill>
                <a:latin typeface="Microsoft YaHei"/>
                <a:ea typeface="Microsoft YaHei"/>
              </a:rPr>
              <a:t>图源：LumiVideo，Fig. 2 · https://arxiv.org/abs/2604.02409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20272" y="6483096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850" b="1" a:lang="zh-CN">
                <a:solidFill>
                  <a:srgbClr val="64707B"/>
                </a:solidFill>
                <a:latin typeface="Microsoft YaHei"/>
                <a:ea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43891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 a:lang="zh-CN">
                <a:solidFill>
                  <a:srgbClr val="168F82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137160"/>
            <a:ext cx="80924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a:lang="zh-CN">
                <a:solidFill>
                  <a:srgbClr val="17212B"/>
                </a:solidFill>
                <a:latin typeface="Microsoft YaHei"/>
                <a:ea typeface="Microsoft YaHei"/>
              </a:rPr>
              <a:t>SA-LUT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34272" y="192024"/>
            <a:ext cx="26334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1050" b="0" a:lang="zh-CN">
                <a:solidFill>
                  <a:srgbClr val="64707B"/>
                </a:solidFill>
                <a:latin typeface="Microsoft YaHei"/>
                <a:ea typeface="Microsoft YaHei"/>
              </a:rPr>
              <a:t>2025 · arXiv:2506.13465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58368"/>
            <a:ext cx="11183112" cy="502920"/>
          </a:xfrm>
          <a:prstGeom prst="roundRect">
            <a:avLst/>
          </a:prstGeom>
          <a:solidFill>
            <a:srgbClr val="E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768096"/>
            <a:ext cx="93268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 a:lang="zh-CN">
                <a:solidFill>
                  <a:srgbClr val="168F82"/>
                </a:solidFill>
                <a:latin typeface="Microsoft YaHei"/>
                <a:ea typeface="Microsoft YaHei"/>
              </a:rPr>
              <a:t>研究问题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731520"/>
            <a:ext cx="9857232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如何突破 3D LUT 的空间齐次性，使相同 RGB 在人物、天空和背景中获得不同的风格映射？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07592"/>
            <a:ext cx="676656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al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71914"/>
            <a:ext cx="6455664" cy="363187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498079" y="1307592"/>
            <a:ext cx="4187952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07807" y="1426464"/>
            <a:ext cx="310896" cy="310896"/>
          </a:xfrm>
          <a:prstGeom prst="roundRect">
            <a:avLst/>
          </a:prstGeom>
          <a:solidFill>
            <a:srgbClr val="16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07807" y="1426464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0144" y="1399032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风格加权 LUT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44383" y="1792224"/>
            <a:ext cx="389534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0" a:lang="zh-CN">
                <a:solidFill>
                  <a:srgbClr val="64707B"/>
                </a:solidFill>
                <a:latin typeface="Microsoft YaHei"/>
                <a:ea typeface="Microsoft YaHei"/>
              </a:rPr>
              <a:t>风格编码器预测多组基础 4D LUT 的组合权重。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5752" y="2176272"/>
            <a:ext cx="27432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168F82"/>
                </a:solidFill>
                <a:latin typeface="Microsoft YaHei"/>
                <a:ea typeface="Microsoft YaHei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350008"/>
            <a:ext cx="4187952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07807" y="2468879"/>
            <a:ext cx="310896" cy="310896"/>
          </a:xfrm>
          <a:prstGeom prst="roundRect">
            <a:avLst/>
          </a:prstGeom>
          <a:solidFill>
            <a:srgbClr val="16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7" y="2468879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2441448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生成上下文坐标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4383" y="2834639"/>
            <a:ext cx="389534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0" a:lang="zh-CN">
                <a:solidFill>
                  <a:srgbClr val="64707B"/>
                </a:solidFill>
                <a:latin typeface="Microsoft YaHei"/>
                <a:ea typeface="Microsoft YaHei"/>
              </a:rPr>
              <a:t>Context Generator 以内容—风格 cross-attention 产生逐像素 context map。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2" y="3218687"/>
            <a:ext cx="27432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168F82"/>
                </a:solidFill>
                <a:latin typeface="Microsoft YaHei"/>
                <a:ea typeface="Microsoft YaHei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3392424"/>
            <a:ext cx="4187952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07807" y="3511296"/>
            <a:ext cx="310896" cy="310896"/>
          </a:xfrm>
          <a:prstGeom prst="roundRect">
            <a:avLst/>
          </a:prstGeom>
          <a:solidFill>
            <a:srgbClr val="16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07807" y="3511296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0144" y="3483864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构造四维查询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44383" y="3877056"/>
            <a:ext cx="389534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0" a:lang="zh-CN">
                <a:solidFill>
                  <a:srgbClr val="64707B"/>
                </a:solidFill>
                <a:latin typeface="Microsoft YaHei"/>
                <a:ea typeface="Microsoft YaHei"/>
              </a:rPr>
              <a:t>把像素 RGB 与 context 值拼接，作为 4D LUT 的查询坐标。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2" y="4261104"/>
            <a:ext cx="27432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168F82"/>
                </a:solidFill>
                <a:latin typeface="Microsoft YaHei"/>
                <a:ea typeface="Microsoft YaHei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4434840"/>
            <a:ext cx="4187952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607807" y="4553712"/>
            <a:ext cx="310896" cy="310896"/>
          </a:xfrm>
          <a:prstGeom prst="roundRect">
            <a:avLst/>
          </a:prstGeom>
          <a:solidFill>
            <a:srgbClr val="16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07807" y="4553712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0144" y="4526279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四线性插值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4919472"/>
            <a:ext cx="389534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0" a:lang="zh-CN">
                <a:solidFill>
                  <a:srgbClr val="64707B"/>
                </a:solidFill>
                <a:latin typeface="Microsoft YaHei"/>
                <a:ea typeface="Microsoft YaHei"/>
              </a:rPr>
              <a:t>从 4D LUT 查询区域相关的颜色变换并生成风格化结果。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623560"/>
            <a:ext cx="11183112" cy="713232"/>
          </a:xfrm>
          <a:prstGeom prst="roundRect">
            <a:avLst/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760720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168F82"/>
                </a:solidFill>
                <a:latin typeface="Microsoft YaHei"/>
                <a:ea typeface="Microsoft YaHei"/>
              </a:rPr>
              <a:t>核心机制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05856"/>
            <a:ext cx="469087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60" b="1" a:lang="zh-CN">
                <a:solidFill>
                  <a:srgbClr val="FFFFFF"/>
                </a:solidFill>
                <a:latin typeface="Microsoft YaHei"/>
                <a:ea typeface="Microsoft YaHei"/>
              </a:rPr>
              <a:t>以 context 作为第四维，实现区域自适应的 LUT 映射。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5760720"/>
            <a:ext cx="80467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168F82"/>
                </a:solidFill>
                <a:latin typeface="Microsoft YaHei"/>
                <a:ea typeface="Microsoft YaHei"/>
              </a:rPr>
              <a:t>尚未解决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5705856"/>
            <a:ext cx="4242816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40" b="0" a:lang="zh-CN">
                <a:solidFill>
                  <a:srgbClr val="FFFFFF"/>
                </a:solidFill>
                <a:latin typeface="Microsoft YaHei"/>
                <a:ea typeface="Microsoft YaHei"/>
              </a:rPr>
              <a:t>逐帧 context 无显式运动约束，快速变化时可能波动。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6510528"/>
            <a:ext cx="106527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780" b="0" a:lang="zh-CN">
                <a:solidFill>
                  <a:srgbClr val="64707B"/>
                </a:solidFill>
                <a:latin typeface="Microsoft YaHei"/>
                <a:ea typeface="Microsoft YaHei"/>
              </a:rPr>
              <a:t>图源：SA-LUT，Fig. 2 · https://arxiv.org/abs/2506.13465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20272" y="6483096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850" b="1" a:lang="zh-CN">
                <a:solidFill>
                  <a:srgbClr val="64707B"/>
                </a:solidFill>
                <a:latin typeface="Microsoft YaHei"/>
                <a:ea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43891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 a:lang="zh-CN">
                <a:solidFill>
                  <a:srgbClr val="3574D4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137160"/>
            <a:ext cx="80924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a:lang="zh-CN">
                <a:solidFill>
                  <a:srgbClr val="17212B"/>
                </a:solidFill>
                <a:latin typeface="Microsoft YaHei"/>
                <a:ea typeface="Microsoft YaHei"/>
              </a:rPr>
              <a:t>Occlusion-Aware Keyframe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34272" y="192024"/>
            <a:ext cx="26334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1050" b="0" a:lang="zh-CN">
                <a:solidFill>
                  <a:srgbClr val="64707B"/>
                </a:solidFill>
                <a:latin typeface="Microsoft YaHei"/>
                <a:ea typeface="Microsoft YaHei"/>
              </a:rPr>
              <a:t>2026 · arXiv:2605.23192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58368"/>
            <a:ext cx="11183112" cy="50292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768096"/>
            <a:ext cx="93268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 a:lang="zh-CN">
                <a:solidFill>
                  <a:srgbClr val="3574D4"/>
                </a:solidFill>
                <a:latin typeface="Microsoft YaHei"/>
                <a:ea typeface="Microsoft YaHei"/>
              </a:rPr>
              <a:t>研究问题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731520"/>
            <a:ext cx="9857232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在遮挡、视角变化和快速运动下，如何选择具有完整、可跟踪且语义清晰视觉证据的编辑 Anchor？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07592"/>
            <a:ext cx="11183112" cy="2670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ey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127" y="1417320"/>
            <a:ext cx="7418697" cy="24505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4178808"/>
            <a:ext cx="25877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4297680"/>
            <a:ext cx="310896" cy="310896"/>
          </a:xfrm>
          <a:prstGeom prst="roundRect">
            <a:avLst/>
          </a:prstGeom>
          <a:solidFill>
            <a:srgbClr val="357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4297680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427024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生成候选区域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4645152"/>
            <a:ext cx="229514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20" b="0" a:lang="zh-CN">
                <a:solidFill>
                  <a:srgbClr val="64707B"/>
                </a:solidFill>
                <a:latin typeface="Microsoft YaHei"/>
                <a:ea typeface="Microsoft YaHei"/>
              </a:rPr>
              <a:t>Grounding DINO 根据文本在多帧中产生目标候选框。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9815" y="4599432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3574D4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28415" y="4178808"/>
            <a:ext cx="25877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38144" y="4297680"/>
            <a:ext cx="310896" cy="310896"/>
          </a:xfrm>
          <a:prstGeom prst="roundRect">
            <a:avLst/>
          </a:prstGeom>
          <a:solidFill>
            <a:srgbClr val="357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38144" y="4297680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79" y="427024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结构完整性评分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645152"/>
            <a:ext cx="229514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20" b="0" a:lang="zh-CN">
                <a:solidFill>
                  <a:srgbClr val="64707B"/>
                </a:solidFill>
                <a:latin typeface="Microsoft YaHei"/>
                <a:ea typeface="Microsoft YaHei"/>
              </a:rPr>
              <a:t>排除目标被截断或严重遮挡、无法支持稳定编辑的帧。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5312" y="4599432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3574D4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4178808"/>
            <a:ext cx="25877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63640" y="4297680"/>
            <a:ext cx="310896" cy="310896"/>
          </a:xfrm>
          <a:prstGeom prst="roundRect">
            <a:avLst/>
          </a:prstGeom>
          <a:solidFill>
            <a:srgbClr val="357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4297680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5975" y="427024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物理与语义评分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4645152"/>
            <a:ext cx="229514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20" b="0" a:lang="zh-CN">
                <a:solidFill>
                  <a:srgbClr val="64707B"/>
                </a:solidFill>
                <a:latin typeface="Microsoft YaHei"/>
                <a:ea typeface="Microsoft YaHei"/>
              </a:rPr>
              <a:t>结合循环一致跟踪稳定性和 VLM 属性可见性。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50808" y="4599432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3574D4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79408" y="4178808"/>
            <a:ext cx="25877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89136" y="4297680"/>
            <a:ext cx="310896" cy="310896"/>
          </a:xfrm>
          <a:prstGeom prst="roundRect">
            <a:avLst/>
          </a:prstGeom>
          <a:solidFill>
            <a:srgbClr val="357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89136" y="4297680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1472" y="427024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选择并传播 Anchor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5712" y="4645152"/>
            <a:ext cx="229514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20" b="0" a:lang="zh-CN">
                <a:solidFill>
                  <a:srgbClr val="64707B"/>
                </a:solidFill>
                <a:latin typeface="Microsoft YaHei"/>
                <a:ea typeface="Microsoft YaHei"/>
              </a:rPr>
              <a:t>最优帧完成编辑后，双向跟踪 mask 并约束 diffusion 视频编辑。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623560"/>
            <a:ext cx="11183112" cy="713232"/>
          </a:xfrm>
          <a:prstGeom prst="roundRect">
            <a:avLst/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760720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3574D4"/>
                </a:solidFill>
                <a:latin typeface="Microsoft YaHei"/>
                <a:ea typeface="Microsoft YaHei"/>
              </a:rPr>
              <a:t>核心机制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05856"/>
            <a:ext cx="469087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60" b="1" a:lang="zh-CN">
                <a:solidFill>
                  <a:srgbClr val="FFFFFF"/>
                </a:solidFill>
                <a:latin typeface="Microsoft YaHei"/>
                <a:ea typeface="Microsoft YaHei"/>
              </a:rPr>
              <a:t>把遮挡鲁棒性转化为“选择可靠视觉锚点”的问题。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5760720"/>
            <a:ext cx="80467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 a:lang="zh-CN">
                <a:solidFill>
                  <a:srgbClr val="3574D4"/>
                </a:solidFill>
                <a:latin typeface="Microsoft YaHei"/>
                <a:ea typeface="Microsoft YaHei"/>
              </a:rPr>
              <a:t>尚未解决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5705856"/>
            <a:ext cx="4242816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40" b="0" a:lang="zh-CN">
                <a:solidFill>
                  <a:srgbClr val="FFFFFF"/>
                </a:solidFill>
                <a:latin typeface="Microsoft YaHei"/>
                <a:ea typeface="Microsoft YaHei"/>
              </a:rPr>
              <a:t>一次性选择单 Anchor，无法依据传播失败主动补帧。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6510528"/>
            <a:ext cx="106527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780" b="0" a:lang="zh-CN">
                <a:solidFill>
                  <a:srgbClr val="64707B"/>
                </a:solidFill>
                <a:latin typeface="Microsoft YaHei"/>
                <a:ea typeface="Microsoft YaHei"/>
              </a:rPr>
              <a:t>图源：Occlusion-Aware Keyframe Selection，Fig. 2 · https://arxiv.org/abs/2605.23192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20272" y="6483096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850" b="1" a:lang="zh-CN">
                <a:solidFill>
                  <a:srgbClr val="64707B"/>
                </a:solidFill>
                <a:latin typeface="Microsoft YaHei"/>
                <a:ea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43891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 a:lang="zh-CN">
                <a:solidFill>
                  <a:srgbClr val="7657C9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137160"/>
            <a:ext cx="80924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a:lang="zh-CN">
                <a:solidFill>
                  <a:srgbClr val="17212B"/>
                </a:solidFill>
                <a:latin typeface="Microsoft YaHei"/>
                <a:ea typeface="Microsoft YaHei"/>
              </a:rPr>
              <a:t>建议课题：DynamicGradeAgent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34272" y="192024"/>
            <a:ext cx="26334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1050" b="0" a:lang="zh-CN">
                <a:solidFill>
                  <a:srgbClr val="64707B"/>
                </a:solidFill>
                <a:latin typeface="Microsoft YaHei"/>
                <a:ea typeface="Microsoft YaHei"/>
              </a:rPr>
              <a:t>研究设计草案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58368"/>
            <a:ext cx="11183112" cy="502920"/>
          </a:xfrm>
          <a:prstGeom prst="roundRect">
            <a:avLst/>
          </a:prstGeom>
          <a:solidFill>
            <a:srgbClr val="F0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768096"/>
            <a:ext cx="93268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 a:lang="zh-CN">
                <a:solidFill>
                  <a:srgbClr val="7657C9"/>
                </a:solidFill>
                <a:latin typeface="Microsoft YaHei"/>
                <a:ea typeface="Microsoft YaHei"/>
              </a:rPr>
              <a:t>研究问题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731520"/>
            <a:ext cx="9857232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a:lang="zh-CN">
                <a:solidFill>
                  <a:srgbClr val="17212B"/>
                </a:solidFill>
                <a:latin typeface="Microsoft YaHei"/>
                <a:ea typeface="Microsoft YaHei"/>
              </a:rPr>
              <a:t>在有限 Anchor 精修预算下，如何学习可解释、空间自适应且时间连续的视频调色参数轨迹？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444752"/>
            <a:ext cx="2057400" cy="1344168"/>
          </a:xfrm>
          <a:prstGeom prst="roundRect">
            <a:avLst/>
          </a:prstGeom>
          <a:solidFill>
            <a:srgbClr val="FF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609344"/>
            <a:ext cx="274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 b="1" a:lang="zh-CN">
                <a:solidFill>
                  <a:srgbClr val="EF673C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1545336"/>
            <a:ext cx="1444752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1" a:lang="zh-CN">
                <a:solidFill>
                  <a:srgbClr val="17212B"/>
                </a:solidFill>
                <a:latin typeface="Microsoft YaHei"/>
                <a:ea typeface="Microsoft YaHei"/>
              </a:rPr>
              <a:t>Shot 建模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002536"/>
            <a:ext cx="17830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150" b="0" a:lang="zh-CN">
                <a:solidFill>
                  <a:srgbClr val="64707B"/>
                </a:solidFill>
                <a:latin typeface="Microsoft YaHei"/>
                <a:ea typeface="Microsoft YaHei"/>
              </a:rPr>
              <a:t>镜头切分、Log 识别、曝光与语义状态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1874519"/>
            <a:ext cx="25603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EF673C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7208" y="1444752"/>
            <a:ext cx="2057400" cy="1344168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35224" y="1609344"/>
            <a:ext cx="274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 b="1" a:lang="zh-CN">
                <a:solidFill>
                  <a:srgbClr val="3574D4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5263" y="1545336"/>
            <a:ext cx="1444752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1" a:lang="zh-CN">
                <a:solidFill>
                  <a:srgbClr val="17212B"/>
                </a:solidFill>
                <a:latin typeface="Microsoft YaHei"/>
                <a:ea typeface="Microsoft YaHei"/>
              </a:rPr>
              <a:t>主动选 Anchor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2002536"/>
            <a:ext cx="17830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150" b="0" a:lang="zh-CN">
                <a:solidFill>
                  <a:srgbClr val="64707B"/>
                </a:solidFill>
                <a:latin typeface="Microsoft YaHei"/>
                <a:ea typeface="Microsoft YaHei"/>
              </a:rPr>
              <a:t>以覆盖度、不确定性和传播风险选择帧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1874519"/>
            <a:ext cx="25603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3574D4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38927" y="1444752"/>
            <a:ext cx="2057400" cy="1344168"/>
          </a:xfrm>
          <a:prstGeom prst="roundRect">
            <a:avLst/>
          </a:prstGeom>
          <a:solidFill>
            <a:srgbClr val="E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66943" y="1609344"/>
            <a:ext cx="274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 b="1" a:lang="zh-CN">
                <a:solidFill>
                  <a:srgbClr val="168F82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6983" y="1545336"/>
            <a:ext cx="1444752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1" a:lang="zh-CN">
                <a:solidFill>
                  <a:srgbClr val="17212B"/>
                </a:solidFill>
                <a:latin typeface="Microsoft YaHei"/>
                <a:ea typeface="Microsoft YaHei"/>
              </a:rPr>
              <a:t>Anchor 精修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2002536"/>
            <a:ext cx="17830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150" b="0" a:lang="zh-CN">
                <a:solidFill>
                  <a:srgbClr val="64707B"/>
                </a:solidFill>
                <a:latin typeface="Microsoft YaHei"/>
                <a:ea typeface="Microsoft YaHei"/>
              </a:rPr>
              <a:t>Agent 搜索可执行的全局与局部参数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5471" y="1874519"/>
            <a:ext cx="25603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168F82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70648" y="1444752"/>
            <a:ext cx="2057400" cy="1344168"/>
          </a:xfrm>
          <a:prstGeom prst="roundRect">
            <a:avLst/>
          </a:prstGeom>
          <a:solidFill>
            <a:srgbClr val="F0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98664" y="1609344"/>
            <a:ext cx="274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 b="1" a:lang="zh-CN">
                <a:solidFill>
                  <a:srgbClr val="7657C9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18704" y="1545336"/>
            <a:ext cx="1444752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1" a:lang="zh-CN">
                <a:solidFill>
                  <a:srgbClr val="17212B"/>
                </a:solidFill>
                <a:latin typeface="Microsoft YaHei"/>
                <a:ea typeface="Microsoft YaHei"/>
              </a:rPr>
              <a:t>参数场传播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7808" y="2002536"/>
            <a:ext cx="17830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150" b="0" a:lang="zh-CN">
                <a:solidFill>
                  <a:srgbClr val="64707B"/>
                </a:solidFill>
                <a:latin typeface="Microsoft YaHei"/>
                <a:ea typeface="Microsoft YaHei"/>
              </a:rPr>
              <a:t>传播参数、mask 和置信度，而非复制 RGB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7192" y="1874519"/>
            <a:ext cx="25603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7657C9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02367" y="1444752"/>
            <a:ext cx="2057400" cy="1344168"/>
          </a:xfrm>
          <a:prstGeom prst="roundRect">
            <a:avLst/>
          </a:prstGeom>
          <a:solidFill>
            <a:srgbClr val="FF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30384" y="1609344"/>
            <a:ext cx="274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 b="1" a:lang="zh-CN">
                <a:solidFill>
                  <a:srgbClr val="EF673C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50424" y="1545336"/>
            <a:ext cx="1444752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1" a:lang="zh-CN">
                <a:solidFill>
                  <a:srgbClr val="17212B"/>
                </a:solidFill>
                <a:latin typeface="Microsoft YaHei"/>
                <a:ea typeface="Microsoft YaHei"/>
              </a:rPr>
              <a:t>时序评价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9528" y="2002536"/>
            <a:ext cx="17830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150" b="0" a:lang="zh-CN">
                <a:solidFill>
                  <a:srgbClr val="64707B"/>
                </a:solidFill>
                <a:latin typeface="Microsoft YaHei"/>
                <a:ea typeface="Microsoft YaHei"/>
              </a:rPr>
              <a:t>运动补偿编辑残差驱动补帧与回滚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3136392"/>
            <a:ext cx="219456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900" b="1" a:lang="zh-CN">
                <a:solidFill>
                  <a:srgbClr val="17212B"/>
                </a:solidFill>
                <a:latin typeface="Microsoft YaHei"/>
                <a:ea typeface="Microsoft YaHei"/>
              </a:rPr>
              <a:t>分层输出表示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3557016"/>
            <a:ext cx="11055096" cy="804672"/>
          </a:xfrm>
          <a:prstGeom prst="roundRect">
            <a:avLst/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3749039"/>
            <a:ext cx="1037844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2500" b="1" a:lang="zh-CN">
                <a:solidFill>
                  <a:srgbClr val="FFFFFF"/>
                </a:solidFill>
                <a:latin typeface="Microsoft YaHei"/>
                <a:ea typeface="Microsoft YaHei"/>
              </a:rPr>
              <a:t>θₜ(x,y) = θshot  +  Δθₜ  +  θlocal,ₜ(x,y)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645152"/>
            <a:ext cx="3529584" cy="126187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818888"/>
            <a:ext cx="31821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1" a:lang="zh-CN">
                <a:solidFill>
                  <a:srgbClr val="3574D4"/>
                </a:solidFill>
                <a:latin typeface="Microsoft YaHei"/>
                <a:ea typeface="Microsoft YaHei"/>
              </a:rPr>
              <a:t>C1 · 主动多 Anchor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239512"/>
            <a:ext cx="318211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0" a:lang="zh-CN">
                <a:solidFill>
                  <a:srgbClr val="17212B"/>
                </a:solidFill>
                <a:latin typeface="Microsoft YaHei"/>
                <a:ea typeface="Microsoft YaHei"/>
              </a:rPr>
              <a:t>把选帧建模为预算约束的序贯决策；传播失败后主动增加 Anchor。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70832" y="4645152"/>
            <a:ext cx="3529584" cy="1261872"/>
          </a:xfrm>
          <a:prstGeom prst="roundRect">
            <a:avLst/>
          </a:prstGeom>
          <a:solidFill>
            <a:srgbClr val="E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35424" y="4818888"/>
            <a:ext cx="31821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1" a:lang="zh-CN">
                <a:solidFill>
                  <a:srgbClr val="168F82"/>
                </a:solidFill>
                <a:latin typeface="Microsoft YaHei"/>
                <a:ea typeface="Microsoft YaHei"/>
              </a:rPr>
              <a:t>C2 · 时空参数场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35424" y="5239512"/>
            <a:ext cx="318211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0" a:lang="zh-CN">
                <a:solidFill>
                  <a:srgbClr val="17212B"/>
                </a:solidFill>
                <a:latin typeface="Microsoft YaHei"/>
                <a:ea typeface="Microsoft YaHei"/>
              </a:rPr>
              <a:t>输出 shot base grade、帧级补偿和对象级局部轨迹，可继续编辑。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74736" y="4645152"/>
            <a:ext cx="3529584" cy="1261872"/>
          </a:xfrm>
          <a:prstGeom prst="roundRect">
            <a:avLst/>
          </a:prstGeom>
          <a:solidFill>
            <a:srgbClr val="F0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39327" y="4818888"/>
            <a:ext cx="31821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1" a:lang="zh-CN">
                <a:solidFill>
                  <a:srgbClr val="7657C9"/>
                </a:solidFill>
                <a:latin typeface="Microsoft YaHei"/>
                <a:ea typeface="Microsoft YaHei"/>
              </a:rPr>
              <a:t>C3 · Temporal Critic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9327" y="5239512"/>
            <a:ext cx="318211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0" a:lang="zh-CN">
                <a:solidFill>
                  <a:srgbClr val="17212B"/>
                </a:solidFill>
                <a:latin typeface="Microsoft YaHei"/>
                <a:ea typeface="Microsoft YaHei"/>
              </a:rPr>
              <a:t>比较光流对齐后的编辑残差，区分真实光照变化与算法闪烁。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" y="6510528"/>
            <a:ext cx="106527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780" b="0" a:lang="zh-CN">
                <a:solidFill>
                  <a:srgbClr val="64707B"/>
                </a:solidFill>
                <a:latin typeface="Microsoft YaHei"/>
                <a:ea typeface="Microsoft YaHei"/>
              </a:rPr>
              <a:t>研究定位：超越“单 Anchor + 全局 LUT”，形成选帧—精修—传播—评价的闭环。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20272" y="6483096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850" b="1" a:lang="zh-CN">
                <a:solidFill>
                  <a:srgbClr val="64707B"/>
                </a:solidFill>
                <a:latin typeface="Microsoft YaHei"/>
                <a:ea typeface="Microsoft YaHe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